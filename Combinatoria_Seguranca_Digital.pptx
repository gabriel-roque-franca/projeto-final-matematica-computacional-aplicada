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28789B"/>
    <a:srgbClr val="003C8C"/>
    <a:srgbClr val="787878"/>
    <a:srgbClr val="DCDCDC"/>
    <a:srgbClr val="505050"/>
    <a:srgbClr val="0514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2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80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686800" y="0"/>
            <a:ext cx="457200" cy="64008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887968" y="0"/>
            <a:ext cx="256032" cy="1645920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566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54480" y="822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685544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Princípios de Contagem 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Combinatória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1480" y="27462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Problemas de Geração de Senhas e Segurança Computacional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11480" y="3520440"/>
            <a:ext cx="32004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11480" y="36484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Roque França  ·  Vinicius Paulo de Almeida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3584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931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4114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2563EB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cⁿ</a:t>
            </a:r>
            <a:endParaRPr lang="en-US" sz="48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4342B352-289F-EC36-F336-3FE4C02C59F2}"/>
              </a:ext>
            </a:extLst>
          </p:cNvPr>
          <p:cNvSpPr/>
          <p:nvPr/>
        </p:nvSpPr>
        <p:spPr>
          <a:xfrm>
            <a:off x="1554480" y="804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en-US" sz="10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BFD91E5-0C50-CF90-9311-B4B3B887CC80}"/>
              </a:ext>
            </a:extLst>
          </p:cNvPr>
          <p:cNvSpPr/>
          <p:nvPr/>
        </p:nvSpPr>
        <p:spPr>
          <a:xfrm>
            <a:off x="1554480" y="10607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da Computação — Universidade São Judas Tadeu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será apresentado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674370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023360" cy="10058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54864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senhas importam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023360" cy="10058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54864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46320" y="1097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3533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Matemática</a:t>
            </a: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 err="1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Computacional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matemática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inserida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senhas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194560"/>
            <a:ext cx="4023360" cy="10058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11480" y="2194560"/>
            <a:ext cx="54864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4864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05–12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5420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</a:t>
            </a: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 err="1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Combinatória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8163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 · Permutação · Arranjo · Combinação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4023360" cy="10058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2" name="Shape 20"/>
          <p:cNvSpPr/>
          <p:nvPr/>
        </p:nvSpPr>
        <p:spPr>
          <a:xfrm>
            <a:off x="4709160" y="2194560"/>
            <a:ext cx="54864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13–16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5420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Espaço de </a:t>
            </a:r>
            <a:r>
              <a:rPr lang="en-US" sz="1400" b="1" dirty="0" err="1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</a:t>
            </a: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 </a:t>
            </a:r>
            <a:r>
              <a:rPr lang="en-US" sz="1400" b="1" dirty="0" err="1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Crescimento</a:t>
            </a: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 err="1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Exponencial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8163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 crescimento exponencial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383280"/>
            <a:ext cx="4023360" cy="10058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11480" y="3383280"/>
            <a:ext cx="54864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864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17–18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730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Ataques e Defesas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0050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bruta e mecanismos de proteção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383280"/>
            <a:ext cx="4023360" cy="10058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709160" y="3383280"/>
            <a:ext cx="54864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84632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30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Estudo de Caso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40050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em Python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senhas importam?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697230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239000" y="960120"/>
            <a:ext cx="1463040" cy="1463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960120"/>
            <a:ext cx="3108960" cy="14630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11480" y="105156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2,3 mi+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11480" y="1664208"/>
            <a:ext cx="310896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incidents de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2023 (Fonte: CERT.br)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49040" y="14401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são o principal método de autenticação no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 — e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606040"/>
            <a:ext cx="8321040" cy="1234440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noProof="0"/>
          </a:p>
        </p:txBody>
      </p:sp>
      <p:sp>
        <p:nvSpPr>
          <p:cNvPr id="12" name="Text 9"/>
          <p:cNvSpPr/>
          <p:nvPr/>
        </p:nvSpPr>
        <p:spPr>
          <a:xfrm>
            <a:off x="59436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DIRETA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926080"/>
            <a:ext cx="3566160" cy="68580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49808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"1234"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9808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milissegundo para quebrar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2926080"/>
            <a:ext cx="3931920" cy="68580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572000" y="2926080"/>
            <a:ext cx="54864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773168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"G@b2026!"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73168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para quebrar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02336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563EB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11480" y="39502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explica essa diferença?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matemática está na raiz da segurança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676656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4572000" cy="96012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86000" y="91440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450592" y="932688"/>
            <a:ext cx="4343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=  cⁿ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2651760" cy="12344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26517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Espaço de Busca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senhas possíveis — define o custo máximo de um ataque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057400"/>
            <a:ext cx="2651760" cy="12344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291840" y="2057400"/>
            <a:ext cx="265176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4290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29000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Alfabeto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292608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caracteres diferentes são permitidos (letras, números, símbolos)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057400"/>
            <a:ext cx="2651760" cy="12344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172200" y="2057400"/>
            <a:ext cx="2651760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093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309360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Comprimento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92608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posições da senha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429000"/>
            <a:ext cx="832104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008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espaço de busca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00400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mais demorado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6928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segurança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1148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combinatória é a ferramenta matemática que permite calcular esse espaço.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Princípio Fundamental da Contagem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toda análise combinatória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91440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64008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21792" y="100584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processo tem etapas independentes, o total de possibilidades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PRODUTO das possibilidades de cada etapa.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2996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formas × n formas  =  m × n  possibilidades totais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029968"/>
            <a:ext cx="640080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508760" y="207568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formas × n formas  =  m × n  possibilidades totais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ÀS SENHAS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1463040" cy="7498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11480" y="2907792"/>
            <a:ext cx="146304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5488" y="29718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Posição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246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opções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309067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×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093976" y="2907792"/>
            <a:ext cx="1463040" cy="7498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093976" y="2907792"/>
            <a:ext cx="146304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157984" y="29718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Posição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57984" y="3246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opções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57016" y="309067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×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776472" y="2907792"/>
            <a:ext cx="1463040" cy="7498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776472" y="2907792"/>
            <a:ext cx="146304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840480" y="29718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Posição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3246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opções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9512" y="309067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×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58968" y="2907792"/>
            <a:ext cx="1463040" cy="7498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5458968" y="2907792"/>
            <a:ext cx="1463040" cy="502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522976" y="29718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...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22008" y="309067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×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141464" y="2907792"/>
            <a:ext cx="1463040" cy="7498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7141464" y="2907792"/>
            <a:ext cx="146304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205472" y="29718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Posição 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05472" y="3246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opções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0" y="3794760"/>
            <a:ext cx="457200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468880" y="38587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  E = cⁿ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PFC na prática — três exemplos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Fundamental da Contagem aplicado a senhas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51760" cy="324612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6517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078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letras + 2 números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2377440" cy="3657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901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× 26 × 10 × 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=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8952" y="24871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67.600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" y="2999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960120"/>
            <a:ext cx="2651760" cy="324612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291840" y="96012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429000" y="1078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1298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de 4 dígitos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1783080"/>
            <a:ext cx="2377440" cy="3657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429000" y="1901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10⁴  =  10.000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=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39312" y="24871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10.000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429000" y="2999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960120"/>
            <a:ext cx="2651760" cy="324612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172200" y="960120"/>
            <a:ext cx="26517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309360" y="1078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1298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chars — letras + números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1783080"/>
            <a:ext cx="2377440" cy="3657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309360" y="1901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=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19672" y="24871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218 bi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309360" y="2999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343400"/>
            <a:ext cx="832104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94360" y="44074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mudanças em  c  ou  n  causam saltos enormes no resultado — o crescimento é exponencial.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Permutação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de todos os elementos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846320" cy="256032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64008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024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298448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elementos são usados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IMPORTA — ABC ≠ BAC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elemento se repete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438912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04672" y="26426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Pₙ  =  n!  =  n × (n−1) × (n−2) × ... × 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32120" y="960120"/>
            <a:ext cx="3200400" cy="2560320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532120" y="960120"/>
            <a:ext cx="32004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687568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COMPUTAÇÃO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87568" y="1353312"/>
            <a:ext cx="29077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Embaralhamento de chaves em algoritmos criptográficos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Contextos onde todos os chars são usados sem repetição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542032"/>
            <a:ext cx="2880360" cy="36576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532120" y="2633472"/>
            <a:ext cx="3200400" cy="86868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623560" y="2679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97880" y="267919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maioria das senhas, caracteres PODEM se repetir — a permutação serve de base para arranjo e combinação.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675888"/>
            <a:ext cx="832104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3749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repetição (PFC): mais possibilidades   |   Sem repetição (Permutação): menos possibilidades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Permutação — Exemplo prático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formas de organizar as letras de "CODE"?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114800" cy="137160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024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P₄  =  4!  =  4 × 3 × 2 ×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24 arranjos distintos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82296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960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806440" y="960120"/>
            <a:ext cx="82296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806440" y="960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766560" y="960120"/>
            <a:ext cx="82296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66560" y="960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7726680" y="960120"/>
            <a:ext cx="82296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26680" y="960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411480" y="2487168"/>
            <a:ext cx="8321040" cy="93268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21792" y="2542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 DOS 24 ARRANJOS POSSÍVEIS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" y="2788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75104" y="2788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8416" y="2788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CDOE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81728" y="2788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2788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88352" y="2788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EDOC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2834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(24 total)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O PFC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767328"/>
            <a:ext cx="3931920" cy="7498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4864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 — com repetição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0782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c=4, n=4  →  4⁴ = 256  →  256 combinações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767328"/>
            <a:ext cx="3931920" cy="7498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80060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Permutação — sem repetição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40782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4! = 24  →  24 combinações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Arranjo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e ordenar parte dos elementos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846320" cy="274320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64008" cy="2743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024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28016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e ordenar PARTE dos elementos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IMPORTA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repetição de elementos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DIFERENÇA-CHAVE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615184"/>
            <a:ext cx="7315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2960" y="2615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Permutação 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6151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TODOS os n elementos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072384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22960" y="3072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Arranjo 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30723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apenas p de n elementos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767328"/>
            <a:ext cx="438912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04672" y="383133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A(n,p)  =  n! / (n−p)!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32120" y="960120"/>
            <a:ext cx="3200400" cy="1828800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532120" y="960120"/>
            <a:ext cx="32004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87568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COMPUTAÇÃO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87568" y="135331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 restrição de caracteres únicos por posição na senha.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32120" y="2880360"/>
            <a:ext cx="32004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532120" y="2880360"/>
            <a:ext cx="32004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687568" y="2944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87568" y="32186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n=26 letras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87568" y="34564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Escolho p=4  →  ordem importa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87568" y="37307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A(26,4) = 26×25×24×23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87568" y="39867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358.800 senhas distintas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Arranjo — Exemplo prático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de 4 letras distintas com o alfabeto de 26 letras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48132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024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DO CÁLCULO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30552" y="129844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49424" y="12801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58184" y="129844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77056" y="12801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A(26,4) = 26! / (26−4)!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85816" y="129844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=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04688" y="12801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26 × 25 × 24 × 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13448" y="129844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=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12801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358.800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16642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358.800 senhas distintas sem repetição de letras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O PFC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834640"/>
            <a:ext cx="4023360" cy="155448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11480" y="2834640"/>
            <a:ext cx="40233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4864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PFC — com repetição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26,  n =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26⁴  =  456.976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38770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4023360" cy="155448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754880" y="2834640"/>
            <a:ext cx="4023360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9204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Arranjo — sem repetição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26,  p =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A(26,4)  =  358.800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92040" y="38770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480560"/>
            <a:ext cx="832104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94360" y="4544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repetição sempre gera espaço maior → sistemas que permitem repetição são mais seguros.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onde a ordem não importa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846320" cy="256032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64008" cy="2560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024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298448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PARTE dos elementos do conjunto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NÃO IMPORTA — ABC = BAC = CBA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do arranjo: aqui a ordem é irrelevante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38912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04672" y="27706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C(n,p)  =  n! / ( p! × (n−p)! 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32120" y="960120"/>
            <a:ext cx="3200400" cy="2423160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532120" y="960120"/>
            <a:ext cx="32004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687568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COMPUTAÇÃO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87568" y="1353312"/>
            <a:ext cx="29077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Subconjuntos de parâmetros em protocolos criptográficos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de dicionário — a ordem não muda se a palavra está na lista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547872"/>
            <a:ext cx="8321040" cy="77724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1792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Arranjo:  ABC ≠ BAC ≠ CBA  (3 resultados diferentes)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Combinação:  ABC = BAC = CBA  (1 único subconjunto {A,B,C})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Combinação — Exemplo e síntese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comparativo dos 4 conceitos da análise combinatória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3931920" cy="141732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393192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2984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3 tipos de caracteres especiais de um conjunto de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C(10,3) = 10! / (3! × 7!)  =  120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2011680" cy="141732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17720" y="1051560"/>
            <a:ext cx="20116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17720" y="1810512"/>
            <a:ext cx="2011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possíveis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ordem não altera)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960120"/>
            <a:ext cx="1874520" cy="141732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995160" y="1051560"/>
            <a:ext cx="1600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em que os tipos são escolhidos não muda o subconjunto selecionado.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542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COMPARATIVO — OS 4 CONCEITOS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788920"/>
            <a:ext cx="265176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5488" y="280720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63240" y="2788920"/>
            <a:ext cx="219456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127248" y="2807208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2788920"/>
            <a:ext cx="9144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321808" y="280720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788920"/>
            <a:ext cx="105156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236208" y="2807208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2788920"/>
            <a:ext cx="100584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287768" y="280720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todos?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108960"/>
            <a:ext cx="265176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84632" y="31363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63240" y="3108960"/>
            <a:ext cx="219456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136392" y="313639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57800" y="3108960"/>
            <a:ext cx="91440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330952" y="313639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3108960"/>
            <a:ext cx="105156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245352" y="3136392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23760" y="3108960"/>
            <a:ext cx="100584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296912" y="313639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419856"/>
            <a:ext cx="265176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84632" y="34472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Permutação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63240" y="3419856"/>
            <a:ext cx="219456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136392" y="344728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n!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57800" y="3419856"/>
            <a:ext cx="91440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330952" y="34472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3419856"/>
            <a:ext cx="105156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245352" y="344728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23760" y="3419856"/>
            <a:ext cx="100584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7296912" y="344728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3730752"/>
            <a:ext cx="265176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84632" y="37581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Arranjo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63240" y="3730752"/>
            <a:ext cx="219456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3136392" y="375818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n!/(n−p)!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257800" y="3730752"/>
            <a:ext cx="91440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5330952" y="37581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72200" y="3730752"/>
            <a:ext cx="105156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245352" y="3758184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223760" y="3730752"/>
            <a:ext cx="1005840" cy="29260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7296912" y="375818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1480" y="4041648"/>
            <a:ext cx="265176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484632" y="4069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Combinação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063240" y="4041648"/>
            <a:ext cx="219456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3136392" y="406908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n!/p!(n−p)!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257800" y="4041648"/>
            <a:ext cx="91440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5330952" y="4069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72200" y="4041648"/>
            <a:ext cx="105156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6245352" y="406908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223760" y="4041648"/>
            <a:ext cx="1005840" cy="29260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7296912" y="406908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Espaço de Busca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440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central da segurança de senhas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7772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64008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21792" y="10241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TODAS as senhas possíveis dentro de um sistema com determinadas regras.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371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número máximo de tentativas que um atacante precisaria para garantir encontrar a senha.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901952"/>
            <a:ext cx="3291840" cy="68580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926080" y="1901952"/>
            <a:ext cx="54864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090672" y="1920240"/>
            <a:ext cx="3063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=  cⁿ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2761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FATORES QUE CONTROLAM O ESPAÇO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4023360" cy="137160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11480" y="2999232"/>
            <a:ext cx="40233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78408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8FAFC"/>
                </a:solidFill>
                <a:latin typeface="Trebuchet MS" pitchFamily="34" charset="0"/>
              </a:rPr>
              <a:t>Quantidade</a:t>
            </a: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</a:rPr>
              <a:t> e </a:t>
            </a:r>
            <a:r>
              <a:rPr lang="en-US" sz="1300" b="1" dirty="0" err="1">
                <a:solidFill>
                  <a:srgbClr val="F8FAFC"/>
                </a:solidFill>
                <a:latin typeface="Trebuchet MS" pitchFamily="34" charset="0"/>
              </a:rPr>
              <a:t>Tipos</a:t>
            </a: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</a:rPr>
              <a:t> de </a:t>
            </a:r>
            <a:r>
              <a:rPr lang="en-US" sz="1300" b="1" dirty="0" err="1">
                <a:solidFill>
                  <a:srgbClr val="F8FAFC"/>
                </a:solidFill>
                <a:latin typeface="Trebuchet MS" pitchFamily="34" charset="0"/>
              </a:rPr>
              <a:t>Elementos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34015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tipos de caracteres são permitidos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(letras, números, símbolos, especiais)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822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26 (só letras)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62 (letras + nums)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95 (letras + nums + símbolos)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99232"/>
            <a:ext cx="4023360" cy="137160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54880" y="2999232"/>
            <a:ext cx="402336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9204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321808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Comprimento da Senha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4015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posições a senha possui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822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 → espaço menor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8 → espaço muito maior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16 → praticamente inquebrável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480560"/>
            <a:ext cx="832104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94360" y="4544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  →  ↑ custo do ataque  →  ↑ segurança          ↓ E  →  ↓ custo do ataque  →  ↓ segurança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Comparação do espaço de busca por senha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cⁿ aplicado a casos reais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23444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7" name="Text 5"/>
          <p:cNvSpPr/>
          <p:nvPr/>
        </p:nvSpPr>
        <p:spPr>
          <a:xfrm>
            <a:off x="475488" y="978408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960120"/>
            <a:ext cx="201168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9" name="Text 7"/>
          <p:cNvSpPr/>
          <p:nvPr/>
        </p:nvSpPr>
        <p:spPr>
          <a:xfrm>
            <a:off x="1709928" y="97840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960120"/>
            <a:ext cx="246888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11" name="Text 9"/>
          <p:cNvSpPr/>
          <p:nvPr/>
        </p:nvSpPr>
        <p:spPr>
          <a:xfrm>
            <a:off x="3721608" y="97840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Busca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128016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13" name="Text 11"/>
          <p:cNvSpPr/>
          <p:nvPr/>
        </p:nvSpPr>
        <p:spPr>
          <a:xfrm>
            <a:off x="6190488" y="97840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960120"/>
            <a:ext cx="132588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470648" y="97840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c^n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1280160"/>
            <a:ext cx="123444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algn="ctr"/>
            <a:endParaRPr lang="pt-BR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1316736"/>
            <a:ext cx="1124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0" y="1280160"/>
            <a:ext cx="201168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19" name="Text 17"/>
          <p:cNvSpPr/>
          <p:nvPr/>
        </p:nvSpPr>
        <p:spPr>
          <a:xfrm>
            <a:off x="1719072" y="131673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números, 4 dígitos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1280160"/>
            <a:ext cx="246888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21" name="Text 19"/>
          <p:cNvSpPr/>
          <p:nvPr/>
        </p:nvSpPr>
        <p:spPr>
          <a:xfrm>
            <a:off x="3730752" y="1316736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10⁴  =  10.000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128016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23" name="Text 21"/>
          <p:cNvSpPr/>
          <p:nvPr/>
        </p:nvSpPr>
        <p:spPr>
          <a:xfrm>
            <a:off x="6172200" y="1316736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baixo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1280160"/>
            <a:ext cx="132588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498080" y="1536192"/>
            <a:ext cx="1124712" cy="128016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7498080" y="1536192"/>
            <a:ext cx="224942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sp>
        <p:nvSpPr>
          <p:cNvPr id="27" name="Shape 25"/>
          <p:cNvSpPr/>
          <p:nvPr/>
        </p:nvSpPr>
        <p:spPr>
          <a:xfrm>
            <a:off x="411480" y="1956816"/>
            <a:ext cx="123444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28" name="Text 26"/>
          <p:cNvSpPr/>
          <p:nvPr/>
        </p:nvSpPr>
        <p:spPr>
          <a:xfrm>
            <a:off x="484632" y="1993392"/>
            <a:ext cx="1124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482031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0" y="1956816"/>
            <a:ext cx="201168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30" name="Text 28"/>
          <p:cNvSpPr/>
          <p:nvPr/>
        </p:nvSpPr>
        <p:spPr>
          <a:xfrm>
            <a:off x="1719072" y="19933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números, 6 dígitos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1956816"/>
            <a:ext cx="246888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 dirty="0"/>
          </a:p>
        </p:txBody>
      </p:sp>
      <p:sp>
        <p:nvSpPr>
          <p:cNvPr id="32" name="Text 30"/>
          <p:cNvSpPr/>
          <p:nvPr/>
        </p:nvSpPr>
        <p:spPr>
          <a:xfrm>
            <a:off x="3730752" y="199339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10⁶  =  1.000.000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1956816"/>
            <a:ext cx="128016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34" name="Text 32"/>
          <p:cNvSpPr/>
          <p:nvPr/>
        </p:nvSpPr>
        <p:spPr>
          <a:xfrm>
            <a:off x="6172200" y="1993392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06640" y="1956816"/>
            <a:ext cx="132588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7498080" y="2212848"/>
            <a:ext cx="1124712" cy="128016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7498080" y="2212848"/>
            <a:ext cx="449885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411480" y="2633472"/>
            <a:ext cx="123444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39" name="Text 37"/>
          <p:cNvSpPr/>
          <p:nvPr/>
        </p:nvSpPr>
        <p:spPr>
          <a:xfrm>
            <a:off x="484632" y="2670048"/>
            <a:ext cx="1124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abcdef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645920" y="2633472"/>
            <a:ext cx="201168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41" name="Text 39"/>
          <p:cNvSpPr/>
          <p:nvPr/>
        </p:nvSpPr>
        <p:spPr>
          <a:xfrm>
            <a:off x="1719072" y="267004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minúsculas, 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0" y="2633472"/>
            <a:ext cx="246888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43" name="Text 41"/>
          <p:cNvSpPr/>
          <p:nvPr/>
        </p:nvSpPr>
        <p:spPr>
          <a:xfrm>
            <a:off x="3730752" y="2670048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26⁶  ≈  308 milhões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26480" y="2633472"/>
            <a:ext cx="128016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45" name="Text 43"/>
          <p:cNvSpPr/>
          <p:nvPr/>
        </p:nvSpPr>
        <p:spPr>
          <a:xfrm>
            <a:off x="6172200" y="2670048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06640" y="2633472"/>
            <a:ext cx="132588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7498080" y="2889504"/>
            <a:ext cx="1124712" cy="128016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7498080" y="2889504"/>
            <a:ext cx="674827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411480" y="3310128"/>
            <a:ext cx="123444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 dirty="0"/>
          </a:p>
        </p:txBody>
      </p:sp>
      <p:sp>
        <p:nvSpPr>
          <p:cNvPr id="50" name="Text 48"/>
          <p:cNvSpPr/>
          <p:nvPr/>
        </p:nvSpPr>
        <p:spPr>
          <a:xfrm>
            <a:off x="484632" y="3346704"/>
            <a:ext cx="1124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abc12345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645920" y="3310128"/>
            <a:ext cx="201168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52" name="Text 50"/>
          <p:cNvSpPr/>
          <p:nvPr/>
        </p:nvSpPr>
        <p:spPr>
          <a:xfrm>
            <a:off x="1719072" y="334670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+ números, 8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0" y="3310128"/>
            <a:ext cx="246888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54" name="Text 52"/>
          <p:cNvSpPr/>
          <p:nvPr/>
        </p:nvSpPr>
        <p:spPr>
          <a:xfrm>
            <a:off x="3730752" y="3346704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62⁸  ≈  218 bilhões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26480" y="3310128"/>
            <a:ext cx="128016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56" name="Text 54"/>
          <p:cNvSpPr/>
          <p:nvPr/>
        </p:nvSpPr>
        <p:spPr>
          <a:xfrm>
            <a:off x="6172200" y="3346704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406640" y="3310128"/>
            <a:ext cx="1325880" cy="62179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7498080" y="3566160"/>
            <a:ext cx="1124712" cy="128016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7498080" y="3566160"/>
            <a:ext cx="899770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411480" y="3986784"/>
            <a:ext cx="123444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61" name="Text 59"/>
          <p:cNvSpPr/>
          <p:nvPr/>
        </p:nvSpPr>
        <p:spPr>
          <a:xfrm>
            <a:off x="484632" y="4023360"/>
            <a:ext cx="1124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G@b2026!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645920" y="3986784"/>
            <a:ext cx="201168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63" name="Text 61"/>
          <p:cNvSpPr/>
          <p:nvPr/>
        </p:nvSpPr>
        <p:spPr>
          <a:xfrm>
            <a:off x="1719072" y="4023360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+ nums + símbolos, 8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657600" y="3986784"/>
            <a:ext cx="246888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65" name="Text 63"/>
          <p:cNvSpPr/>
          <p:nvPr/>
        </p:nvSpPr>
        <p:spPr>
          <a:xfrm>
            <a:off x="3730752" y="4023360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95⁸  ≈  6,6 trilhões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126480" y="3986784"/>
            <a:ext cx="128016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sz="1200"/>
          </a:p>
        </p:txBody>
      </p:sp>
      <p:sp>
        <p:nvSpPr>
          <p:cNvPr id="67" name="Text 65"/>
          <p:cNvSpPr/>
          <p:nvPr/>
        </p:nvSpPr>
        <p:spPr>
          <a:xfrm>
            <a:off x="6172200" y="402336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alto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406640" y="3986784"/>
            <a:ext cx="1325880" cy="62179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7498080" y="4242816"/>
            <a:ext cx="1124712" cy="128016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7498080" y="4242816"/>
            <a:ext cx="1124712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elaborada pelos autores com base na fórmula E = cⁿ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Crescimento Exponencial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74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pequenas mudanças têm impacto enorme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023360" cy="230428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4023360" cy="502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6072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Crescimento LINEAR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acréscimo SOMA uma quantidade fixa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" y="1737360"/>
            <a:ext cx="3657600" cy="3657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76072" y="18288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n=4 → 1.000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n=5 → 2.000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n=6 → 3.000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2606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constante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023360" cy="230428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0233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919472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Crescimento EXPONENCIAL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acréscimo MULTIPLICA o valor anterior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19472" y="1737360"/>
            <a:ext cx="3657600" cy="3657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919472" y="18288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n=4 → 456.976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n=5 → 11,8 milhões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n=6 → 308 milhões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606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se multiplica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ISSO SE APLICA ÀS SENHAS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630168"/>
            <a:ext cx="832104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36850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1 char ao comprimento  n  não aumenta em c — MULTIPLICA por 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93192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símbolos ELEVA A BASE da exponenciação — impacto ainda maior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315968"/>
            <a:ext cx="832104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94360" y="43799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camada de complexidade não SOMA possibilidades — ela as MULTIPLICA.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 / 20</a:t>
            </a:r>
          </a:p>
        </p:txBody>
      </p:sp>
      <p:sp>
        <p:nvSpPr>
          <p:cNvPr id="3" name="titulo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0" cap="none" spc="5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Crescimento Exponencial — Exemplo</a:t>
            </a:r>
          </a:p>
        </p:txBody>
      </p:sp>
      <p:sp>
        <p:nvSpPr>
          <p:cNvPr id="4" name="sub"/>
          <p:cNvSpPr/>
          <p:nvPr/>
        </p:nvSpPr>
        <p:spPr>
          <a:xfrm>
            <a:off x="411480" y="6583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Mesma senha (letras minúsculas, c=26) — o que muda é só o comprimento</a:t>
            </a:r>
          </a:p>
        </p:txBody>
      </p:sp>
      <p:sp>
        <p:nvSpPr>
          <p:cNvPr id="10" name="lbl1"/>
          <p:cNvSpPr/>
          <p:nvPr/>
        </p:nvSpPr>
        <p:spPr>
          <a:xfrm>
            <a:off x="411480" y="1005840"/>
            <a:ext cx="1097280" cy="3200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40000"/>
              </a:srgbClr>
            </a:solidFill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 = 4</a:t>
            </a:r>
          </a:p>
        </p:txBody>
      </p:sp>
      <p:sp>
        <p:nvSpPr>
          <p:cNvPr id="11" name="calc1"/>
          <p:cNvSpPr/>
          <p:nvPr/>
        </p:nvSpPr>
        <p:spPr>
          <a:xfrm>
            <a:off x="155448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91440" tIns="4572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26⁴ = </a:t>
            </a: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456.976</a:t>
            </a:r>
          </a:p>
        </p:txBody>
      </p:sp>
      <p:sp>
        <p:nvSpPr>
          <p:cNvPr id="12" name="barbg1"/>
          <p:cNvSpPr/>
          <p:nvPr/>
        </p:nvSpPr>
        <p:spPr>
          <a:xfrm>
            <a:off x="3245040" y="1051560"/>
            <a:ext cx="5487840" cy="228600"/>
          </a:xfrm>
          <a:prstGeom prst="rect">
            <a:avLst/>
          </a:prstGeom>
          <a:solidFill>
            <a:srgbClr val="1A2234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bar1"/>
          <p:cNvSpPr/>
          <p:nvPr/>
        </p:nvSpPr>
        <p:spPr>
          <a:xfrm>
            <a:off x="3245040" y="1051560"/>
            <a:ext cx="54900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val1"/>
          <p:cNvSpPr/>
          <p:nvPr/>
        </p:nvSpPr>
        <p:spPr>
          <a:xfrm>
            <a:off x="8777520" y="1005840"/>
            <a:ext cx="954960" cy="32004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~457 mil</a:t>
            </a:r>
          </a:p>
        </p:txBody>
      </p:sp>
      <p:sp>
        <p:nvSpPr>
          <p:cNvPr id="20" name="lbl2"/>
          <p:cNvSpPr/>
          <p:nvPr/>
        </p:nvSpPr>
        <p:spPr>
          <a:xfrm>
            <a:off x="411480" y="1371600"/>
            <a:ext cx="1097280" cy="3200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40000"/>
              </a:srgbClr>
            </a:solidFill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 = 5</a:t>
            </a:r>
          </a:p>
        </p:txBody>
      </p:sp>
      <p:sp>
        <p:nvSpPr>
          <p:cNvPr id="21" name="calc2"/>
          <p:cNvSpPr/>
          <p:nvPr/>
        </p:nvSpPr>
        <p:spPr>
          <a:xfrm>
            <a:off x="155448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91440" tIns="4572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26⁵ = </a:t>
            </a: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11.881.376</a:t>
            </a:r>
          </a:p>
        </p:txBody>
      </p:sp>
      <p:sp>
        <p:nvSpPr>
          <p:cNvPr id="22" name="barbg2"/>
          <p:cNvSpPr/>
          <p:nvPr/>
        </p:nvSpPr>
        <p:spPr>
          <a:xfrm>
            <a:off x="3245040" y="1417320"/>
            <a:ext cx="5487840" cy="228600"/>
          </a:xfrm>
          <a:prstGeom prst="rect">
            <a:avLst/>
          </a:prstGeom>
          <a:solidFill>
            <a:srgbClr val="1A2234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bar2"/>
          <p:cNvSpPr/>
          <p:nvPr/>
        </p:nvSpPr>
        <p:spPr>
          <a:xfrm>
            <a:off x="3245040" y="1417320"/>
            <a:ext cx="1646352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val2"/>
          <p:cNvSpPr/>
          <p:nvPr/>
        </p:nvSpPr>
        <p:spPr>
          <a:xfrm>
            <a:off x="8777520" y="1371600"/>
            <a:ext cx="954960" cy="32004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~11,8 mi</a:t>
            </a:r>
          </a:p>
        </p:txBody>
      </p:sp>
      <p:sp>
        <p:nvSpPr>
          <p:cNvPr id="30" name="lbl3"/>
          <p:cNvSpPr/>
          <p:nvPr/>
        </p:nvSpPr>
        <p:spPr>
          <a:xfrm>
            <a:off x="411480" y="1737360"/>
            <a:ext cx="1097280" cy="3200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40000"/>
              </a:srgbClr>
            </a:solidFill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 = 6</a:t>
            </a:r>
          </a:p>
        </p:txBody>
      </p:sp>
      <p:sp>
        <p:nvSpPr>
          <p:cNvPr id="31" name="calc3"/>
          <p:cNvSpPr/>
          <p:nvPr/>
        </p:nvSpPr>
        <p:spPr>
          <a:xfrm>
            <a:off x="155448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91440" tIns="4572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26⁶ = </a:t>
            </a: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308.915.776</a:t>
            </a:r>
          </a:p>
        </p:txBody>
      </p:sp>
      <p:sp>
        <p:nvSpPr>
          <p:cNvPr id="32" name="barbg3"/>
          <p:cNvSpPr/>
          <p:nvPr/>
        </p:nvSpPr>
        <p:spPr>
          <a:xfrm>
            <a:off x="3245040" y="1783080"/>
            <a:ext cx="5487840" cy="228600"/>
          </a:xfrm>
          <a:prstGeom prst="rect">
            <a:avLst/>
          </a:prstGeom>
          <a:solidFill>
            <a:srgbClr val="1A2234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bar3"/>
          <p:cNvSpPr/>
          <p:nvPr/>
        </p:nvSpPr>
        <p:spPr>
          <a:xfrm>
            <a:off x="3245040" y="1783080"/>
            <a:ext cx="3115800" cy="228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val3"/>
          <p:cNvSpPr/>
          <p:nvPr/>
        </p:nvSpPr>
        <p:spPr>
          <a:xfrm>
            <a:off x="8777520" y="1737360"/>
            <a:ext cx="954960" cy="32004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~309 mi</a:t>
            </a:r>
          </a:p>
        </p:txBody>
      </p:sp>
      <p:sp>
        <p:nvSpPr>
          <p:cNvPr id="40" name="lbl4"/>
          <p:cNvSpPr/>
          <p:nvPr/>
        </p:nvSpPr>
        <p:spPr>
          <a:xfrm>
            <a:off x="411480" y="2103120"/>
            <a:ext cx="1097280" cy="3200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40000"/>
              </a:srgbClr>
            </a:solidFill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 = 8</a:t>
            </a:r>
          </a:p>
        </p:txBody>
      </p:sp>
      <p:sp>
        <p:nvSpPr>
          <p:cNvPr id="41" name="calc4"/>
          <p:cNvSpPr/>
          <p:nvPr/>
        </p:nvSpPr>
        <p:spPr>
          <a:xfrm>
            <a:off x="155448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91440" tIns="4572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26⁸ = </a:t>
            </a: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208.827.064.576</a:t>
            </a:r>
          </a:p>
        </p:txBody>
      </p:sp>
      <p:sp>
        <p:nvSpPr>
          <p:cNvPr id="42" name="barbg4"/>
          <p:cNvSpPr/>
          <p:nvPr/>
        </p:nvSpPr>
        <p:spPr>
          <a:xfrm>
            <a:off x="3245040" y="2148840"/>
            <a:ext cx="5487840" cy="228600"/>
          </a:xfrm>
          <a:prstGeom prst="rect">
            <a:avLst/>
          </a:prstGeom>
          <a:solidFill>
            <a:srgbClr val="1A2234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bar4"/>
          <p:cNvSpPr/>
          <p:nvPr/>
        </p:nvSpPr>
        <p:spPr>
          <a:xfrm>
            <a:off x="3245040" y="2148840"/>
            <a:ext cx="548784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val4"/>
          <p:cNvSpPr/>
          <p:nvPr/>
        </p:nvSpPr>
        <p:spPr>
          <a:xfrm>
            <a:off x="8777520" y="2103120"/>
            <a:ext cx="954960" cy="32004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208 bilhões</a:t>
            </a:r>
          </a:p>
        </p:txBody>
      </p:sp>
      <p:sp>
        <p:nvSpPr>
          <p:cNvPr id="50" name="card_exp"/>
          <p:cNvSpPr/>
          <p:nvPr/>
        </p:nvSpPr>
        <p:spPr>
          <a:xfrm>
            <a:off x="411480" y="2560320"/>
            <a:ext cx="420624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</a:ln>
        </p:spPr>
        <p:txBody>
          <a:bodyPr wrap="square" lIns="137160" tIns="91440" rIns="13716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cada +1 caractere: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espaço de busca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multiplica por 26</a:t>
            </a:r>
          </a:p>
        </p:txBody>
      </p:sp>
      <p:sp>
        <p:nvSpPr>
          <p:cNvPr id="51" name="card_cmp"/>
          <p:cNvSpPr/>
          <p:nvPr/>
        </p:nvSpPr>
        <p:spPr>
          <a:xfrm>
            <a:off x="4754040" y="2560320"/>
            <a:ext cx="497844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7C3AED">
                <a:alpha val="60000"/>
              </a:srgbClr>
            </a:solidFill>
          </a:ln>
        </p:spPr>
        <p:txBody>
          <a:bodyPr wrap="square" lIns="137160" tIns="91440" rIns="13716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Linear:  n=4 (457 mil)  +1  =  n=5 (457 mil + 26)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Exponencial:  n=4 (457 mil)  +1  =  n=5 (457 mil * 26) = 11,8mi</a:t>
            </a:r>
          </a:p>
        </p:txBody>
      </p:sp>
      <p:sp>
        <p:nvSpPr>
          <p:cNvPr id="60" name="frase"/>
          <p:cNvSpPr/>
          <p:nvPr/>
        </p:nvSpPr>
        <p:spPr>
          <a:xfrm>
            <a:off x="411480" y="3200400"/>
            <a:ext cx="932112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</a:ln>
        </p:spPr>
        <p:txBody>
          <a:bodyPr wrap="square" lIns="137160" tIns="45720" rIns="13716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1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“Cada caractere a mais não é um passo — é um salto.”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Ataque por Força Bruta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6841376" cy="603504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64008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21792" y="1024128"/>
            <a:ext cx="6645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programa testa TODAS as combinações possíveis, uma a uma, até encontrar a senha correta.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estratégia — é exaustão total do espaço de busca.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67574" y="954024"/>
            <a:ext cx="1876425" cy="989076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267574" y="1045464"/>
            <a:ext cx="1876425" cy="328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bilhão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252856" y="1455725"/>
            <a:ext cx="1781416" cy="1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tentativas por segundo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(computador comum)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98697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DE TEMPOS DE ATAQUE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75488" y="4175320"/>
            <a:ext cx="8217422" cy="804672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39" name="Text 37"/>
          <p:cNvSpPr/>
          <p:nvPr/>
        </p:nvSpPr>
        <p:spPr>
          <a:xfrm>
            <a:off x="451090" y="4275904"/>
            <a:ext cx="82418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 (Advanced Encryption Standard) – 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</a:t>
            </a: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criptografia</a:t>
            </a: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mais</a:t>
            </a: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usado</a:t>
            </a: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 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mundo</a:t>
            </a:r>
            <a:endParaRPr lang="en-US" sz="1400" b="1" dirty="0">
              <a:solidFill>
                <a:srgbClr val="06B6D4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ctr"/>
            <a:r>
              <a:rPr lang="en-US" sz="1400" b="1" dirty="0">
                <a:solidFill>
                  <a:srgbClr val="06B6D4"/>
                </a:solidFill>
                <a:latin typeface="Consolas" pitchFamily="34" charset="0"/>
              </a:rPr>
              <a:t>c = 2 (0 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</a:rPr>
              <a:t>ou</a:t>
            </a:r>
            <a:r>
              <a:rPr lang="en-US" sz="1400" b="1" dirty="0">
                <a:solidFill>
                  <a:srgbClr val="06B6D4"/>
                </a:solidFill>
                <a:latin typeface="Consolas" pitchFamily="34" charset="0"/>
              </a:rPr>
              <a:t> 1); n = 128 (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</a:rPr>
              <a:t>posições</a:t>
            </a:r>
            <a:r>
              <a:rPr lang="en-US" sz="1400" b="1" dirty="0">
                <a:solidFill>
                  <a:srgbClr val="06B6D4"/>
                </a:solidFill>
                <a:latin typeface="Consolas" pitchFamily="34" charset="0"/>
              </a:rPr>
              <a:t>); E = 2</a:t>
            </a:r>
            <a:r>
              <a:rPr lang="en-US" sz="1400" b="1" baseline="30000" dirty="0">
                <a:solidFill>
                  <a:srgbClr val="06B6D4"/>
                </a:solidFill>
                <a:latin typeface="Consolas" pitchFamily="34" charset="0"/>
              </a:rPr>
              <a:t>128</a:t>
            </a:r>
          </a:p>
          <a:p>
            <a:pPr algn="ctr"/>
            <a:r>
              <a:rPr lang="en-US" sz="1400" b="1" dirty="0">
                <a:solidFill>
                  <a:srgbClr val="06B6D4"/>
                </a:solidFill>
                <a:latin typeface="Consolas" pitchFamily="34" charset="0"/>
              </a:rPr>
              <a:t>340.282.366.920.938.463.463.374.607.431.768.211.456</a:t>
            </a:r>
            <a:endParaRPr lang="en-US" sz="1400" b="1" baseline="30000" dirty="0">
              <a:solidFill>
                <a:srgbClr val="06B6D4"/>
              </a:solidFill>
              <a:latin typeface="Consolas" pitchFamily="34" charset="0"/>
            </a:endParaRPr>
          </a:p>
        </p:txBody>
      </p:sp>
      <p:graphicFrame>
        <p:nvGraphicFramePr>
          <p:cNvPr id="55" name="Tabela 54">
            <a:extLst>
              <a:ext uri="{FF2B5EF4-FFF2-40B4-BE49-F238E27FC236}">
                <a16:creationId xmlns:a16="http://schemas.microsoft.com/office/drawing/2014/main" id="{A66F11BE-88F7-E416-8298-3F19894C0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08294"/>
              </p:ext>
            </p:extLst>
          </p:nvPr>
        </p:nvGraphicFramePr>
        <p:xfrm>
          <a:off x="1524000" y="2377250"/>
          <a:ext cx="6669722" cy="1630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5722">
                  <a:extLst>
                    <a:ext uri="{9D8B030D-6E8A-4147-A177-3AD203B41FA5}">
                      <a16:colId xmlns:a16="http://schemas.microsoft.com/office/drawing/2014/main" val="18089727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92704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6251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Tipo de senha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Espaço de busca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Tempo de ataque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455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Pin de 4 dígitos</a:t>
                      </a:r>
                    </a:p>
                  </a:txBody>
                  <a:tcPr>
                    <a:solidFill>
                      <a:srgbClr val="0514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10.000</a:t>
                      </a:r>
                    </a:p>
                  </a:txBody>
                  <a:tcPr>
                    <a:solidFill>
                      <a:srgbClr val="0514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 1 milissegundo</a:t>
                      </a:r>
                    </a:p>
                  </a:txBody>
                  <a:tcPr>
                    <a:solidFill>
                      <a:srgbClr val="05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132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8 chars: letras + </a:t>
                      </a:r>
                      <a:r>
                        <a:rPr lang="pt-BR" sz="1400" dirty="0" err="1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nums</a:t>
                      </a:r>
                      <a:r>
                        <a:rPr lang="pt-BR" sz="14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+ símbolos</a:t>
                      </a:r>
                    </a:p>
                  </a:txBody>
                  <a:tcPr>
                    <a:solidFill>
                      <a:srgbClr val="0514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≈ 6,6 trilhões</a:t>
                      </a:r>
                    </a:p>
                  </a:txBody>
                  <a:tcPr>
                    <a:solidFill>
                      <a:srgbClr val="0514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FFC000"/>
                          </a:solidFill>
                          <a:latin typeface="Consolas" panose="020B0609020204030204" pitchFamily="49" charset="0"/>
                        </a:rPr>
                        <a:t>≈ 76 dias</a:t>
                      </a:r>
                    </a:p>
                  </a:txBody>
                  <a:tcPr>
                    <a:solidFill>
                      <a:srgbClr val="05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54120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Chave AES-128(2</a:t>
                      </a:r>
                      <a:r>
                        <a:rPr lang="pt-BR" sz="1400" baseline="300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128</a:t>
                      </a:r>
                      <a:r>
                        <a:rPr lang="pt-BR" sz="14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0514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Número com 39 dígitos</a:t>
                      </a:r>
                    </a:p>
                  </a:txBody>
                  <a:tcPr>
                    <a:solidFill>
                      <a:srgbClr val="0514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Inviável</a:t>
                      </a:r>
                    </a:p>
                  </a:txBody>
                  <a:tcPr>
                    <a:solidFill>
                      <a:srgbClr val="05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8534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os sistemas se defendem além da senha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023360" cy="138988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64008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6072" y="1051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1307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Bloqueio de tentativas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N erros consecutivos, o sistema bloqueia o acesso. Ex.: PIN do cartão bloqueia após 3 erros.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1984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inviável o ataque mesmo com espaço de busca pequeno.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138988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64008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19472" y="1051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1307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espera obrigatório entre tentativas consecutivas.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1984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bilhão de tentativas/segundo vira 1 </a:t>
            </a:r>
            <a:r>
              <a:rPr lang="en-US" sz="100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Segundo = 31,7 </a:t>
            </a:r>
            <a:r>
              <a:rPr lang="en-US" sz="100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532888"/>
            <a:ext cx="4023360" cy="138988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11480" y="2532888"/>
            <a:ext cx="64008" cy="13898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76072" y="26243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OTP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" y="3172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6 dígitos válido por 30 segundos. Espaço de busca: 10⁶ = 1.000.000 possibilidades.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" y="35570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pequeno + validade curta + limite = barreira eficaz.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532888"/>
            <a:ext cx="4023360" cy="1389888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54880" y="2532888"/>
            <a:ext cx="64008" cy="1389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919472" y="26243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Autenticação 2FA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3172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um segundo fator além da senha: app autenticador, biometria, token físico.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5570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que a senha seja descoberta, o acesso é bloqueado.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94360" y="41788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segurança real combina  MATEMÁTICA  com  DESIGN DE SISTEMA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" y="44622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PIN tem apenas 10.000 combinações — mas o bloqueio automático torna o ataque por força bruta inviável na prática.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Estudo de Caso — Algoritmo em 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166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cⁿ implementada em código real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ALGORITMO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1481328" cy="7772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1481328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+ tipos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caracteres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92808" y="137160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03120" y="1188720"/>
            <a:ext cx="1481328" cy="7772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103120" y="1188720"/>
            <a:ext cx="1481328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194560" y="126187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1508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84448" y="137160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94760" y="1188720"/>
            <a:ext cx="1481328" cy="7772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794760" y="1188720"/>
            <a:ext cx="148132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886200" y="126187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= cⁿ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86200" y="1508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busca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76088" y="137160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0" y="1188720"/>
            <a:ext cx="1481328" cy="7772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486400" y="1188720"/>
            <a:ext cx="148132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577840" y="126187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Senhas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1508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sugestões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67728" y="137160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1188720"/>
            <a:ext cx="1481328" cy="777240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7178040" y="1188720"/>
            <a:ext cx="1481328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269480" y="126187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69480" y="1508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segurança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CENTRAL DO CÓDIGO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350008"/>
            <a:ext cx="832104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94360" y="24140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espaco_busca  =  c  **  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663440" y="24140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isso é exatamente  E = cⁿ  em Python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79" y="2999232"/>
            <a:ext cx="56749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EXECUÇÃO — SENHA DE 8 CHARS, LETRAS + NÚMEROS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218688"/>
            <a:ext cx="4754880" cy="25603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84632" y="324612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min. + mai. + números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66360" y="3218688"/>
            <a:ext cx="3291840" cy="25603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239512" y="3246120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62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3511296"/>
            <a:ext cx="475488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84632" y="353872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da senha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66360" y="3511296"/>
            <a:ext cx="32918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5239512" y="353872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1480" y="3803904"/>
            <a:ext cx="4754880" cy="25603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84632" y="3831336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busca (62⁸)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166360" y="3803904"/>
            <a:ext cx="3291840" cy="25603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239512" y="383133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218 trilhões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" y="4096512"/>
            <a:ext cx="475488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84632" y="41239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segurança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166360" y="4096512"/>
            <a:ext cx="32918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5239512" y="412394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Muito alto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11480" y="4389120"/>
            <a:ext cx="4754880" cy="25603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484632" y="441655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ataque (1 bi/seg)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166360" y="4389120"/>
            <a:ext cx="3291840" cy="25603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5239512" y="441655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2.500 dias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11480" y="4736592"/>
            <a:ext cx="83210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594360" y="47914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matemática não apenas descreve o problema — ela o resolve.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" y="-96012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três eixos centrais do trabalho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2651760" cy="126187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2651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517904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Espaço de Busca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tamanho do problema e o custo máximo de um ataque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651760" cy="126187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291840" y="114300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42900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517904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Crescimento Exponencial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1828800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por que pequenas mudanças na senha têm impacto enorme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143000"/>
            <a:ext cx="2651760" cy="1261872"/>
          </a:xfrm>
          <a:prstGeom prst="rect">
            <a:avLst/>
          </a:prstGeom>
          <a:solidFill>
            <a:srgbClr val="1A2234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172200" y="114300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30936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517904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Ataque por Força Bruta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828800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real onde os dois eixos anteriores se manifestam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542032"/>
            <a:ext cx="832104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94360" y="260604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10.000 e 218 trilhões de combinações não é intuição — é o resultado direto de  E = cⁿ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3246120"/>
            <a:ext cx="8321040" cy="1371600"/>
          </a:xfrm>
          <a:prstGeom prst="rect">
            <a:avLst/>
          </a:prstGeom>
          <a:solidFill>
            <a:srgbClr val="0D1B2A"/>
          </a:solidFill>
          <a:ln w="6350">
            <a:solidFill>
              <a:srgbClr val="2563EB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11480" y="324612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8677656" y="3246120"/>
            <a:ext cx="54864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8368" y="3337560"/>
            <a:ext cx="7818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 segurança digital depende diretamente da quantidade de combinações possíveis — e a análise combinatória é a ferramenta matemática que permite calcular, compreender e projetar essa segurança com precisão."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Roque França  ·  Vinicius Paulo de Almeida  ·  Matemática Computacional Aplicada — USJT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2103</Words>
  <Application>Microsoft Office PowerPoint</Application>
  <PresentationFormat>Apresentação na tela (16:9)</PresentationFormat>
  <Paragraphs>443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Combinatória e Segurança Computacional</dc:title>
  <dc:subject>PptxGenJS Presentation</dc:subject>
  <dc:creator>PptxGenJS</dc:creator>
  <cp:lastModifiedBy>Gabriel Roque França</cp:lastModifiedBy>
  <cp:revision>4</cp:revision>
  <dcterms:created xsi:type="dcterms:W3CDTF">2026-06-04T21:38:47Z</dcterms:created>
  <dcterms:modified xsi:type="dcterms:W3CDTF">2026-06-05T21:50:52Z</dcterms:modified>
</cp:coreProperties>
</file>